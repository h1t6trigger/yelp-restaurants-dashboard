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1" r:id="rId19"/>
    <p:sldId id="277" r:id="rId20"/>
    <p:sldId id="264" r:id="rId21"/>
    <p:sldId id="280" r:id="rId22"/>
  </p:sldIdLst>
  <p:sldSz cx="14630400" cy="8229600"/>
  <p:notesSz cx="8229600" cy="146304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7024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25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2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77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4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8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7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13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13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5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7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89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327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969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66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57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0956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Исследователь отзывов ресторанов (Restaurant Reviews Explorer)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760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Курсовая работа по дисциплине «Введение в компьютерный анализ и интерпретация данных»</a:t>
            </a:r>
            <a:endParaRPr lang="en-US" sz="17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6570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Автор работы: Меньшенин А.В., студент группы ЕТ-411</a:t>
            </a:r>
            <a:endParaRPr lang="en-US" sz="17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3E451C0-1FC1-CFF3-C387-A6FA016321A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02" y="442674"/>
            <a:ext cx="6540698" cy="502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Введение</a:t>
            </a:r>
            <a:endParaRPr lang="en-US" sz="31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4501" y="1339401"/>
            <a:ext cx="8482515" cy="633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Цель работы:</a:t>
            </a:r>
            <a:b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Анализ данных о ресторанах и отзывах на платформе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Yelp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с помощью методов анализа данных и интерактивной визуализации. 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Задачи: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Провести разведочный анализ (EDA): очистка данных, анализ распределений, пропусков и корреляций.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Сгруппировать рестораны по схожим характеристикам с помощью кластеризации.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Построить регрессионную модель для оценки влияния количества отзывов на средний рейтинг.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Разработать интерактивный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для визуального исследования данных (фильтры, графики, карты).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Актуальность:</a:t>
            </a:r>
            <a:b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Отзывы на платформах вроде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Yelp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формируют потребительские предпочтения. Анализ таких данных помогает бизнесу улучшать сервис и исследователям выявлять ключевые факторы успеха заведений.</a:t>
            </a: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575" y="1671935"/>
            <a:ext cx="4885730" cy="488573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80965F-BFA1-F96D-8BCD-A508EC8B8C5C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149"/>
            <a:ext cx="84529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Методология и Инструменты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6718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301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Библиотеки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44253" y="3792259"/>
            <a:ext cx="2835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Pandas, NumPy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для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обработки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данных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, Scikit-learn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Kmeans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ru-RU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и линейная регрессия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,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Plotly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и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Streamlit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для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визуализации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6" y="308919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301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Методы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086356" y="3792260"/>
            <a:ext cx="3308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893" y="3129704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3018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Метрики качества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235893" y="3792259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Кластеризация (KMeans)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для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группировки</a:t>
            </a:r>
            <a:r>
              <a:rPr lang="ru-RU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 ресторанов по рейтингу</a:t>
            </a: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, линейная регрессия для оценки зависимости рейтинга от отзывов.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360766" y="66451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Результаты представлены в интерактивном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дашборде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с возможностью фильтрации и настройки параметров анализа.</a:t>
            </a:r>
            <a:endParaRPr lang="en-US" sz="175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E4A53F1-97B9-C036-3ADD-B1B746F9DCA0}"/>
              </a:ext>
            </a:extLst>
          </p:cNvPr>
          <p:cNvSpPr/>
          <p:nvPr/>
        </p:nvSpPr>
        <p:spPr>
          <a:xfrm>
            <a:off x="9677996" y="3813285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Silhouette Score </a:t>
            </a:r>
            <a:r>
              <a:rPr lang="ru-RU" sz="1600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" pitchFamily="34" charset="-120"/>
              </a:rPr>
              <a:t>для оценки кластеризации и 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R² (коэффициент детерминации) — для оценки регрессии.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26798D2-B2D7-0821-71D8-D4BBFB22794E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1DE551-7B0B-5D07-22D3-3AD0FDAE8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59" y="1941198"/>
            <a:ext cx="7878682" cy="177280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47B55F4-4DE9-A128-B0F3-D6FF60C46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4518668"/>
            <a:ext cx="3581400" cy="275272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96C514E6-6361-CC3F-1BA1-0409D2A7F977}"/>
              </a:ext>
            </a:extLst>
          </p:cNvPr>
          <p:cNvSpPr/>
          <p:nvPr/>
        </p:nvSpPr>
        <p:spPr>
          <a:xfrm>
            <a:off x="4728791" y="3911946"/>
            <a:ext cx="5172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Первые строки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датафрейма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11EDD96-30F1-8AC8-CC76-6A0ADE28A035}"/>
              </a:ext>
            </a:extLst>
          </p:cNvPr>
          <p:cNvSpPr/>
          <p:nvPr/>
        </p:nvSpPr>
        <p:spPr>
          <a:xfrm>
            <a:off x="4728791" y="7444992"/>
            <a:ext cx="5172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2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Информация о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датафрейме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business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4B10F60-9ACF-C3D3-BE52-44A2D09BCF6B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6C514E6-6361-CC3F-1BA1-0409D2A7F977}"/>
              </a:ext>
            </a:extLst>
          </p:cNvPr>
          <p:cNvSpPr/>
          <p:nvPr/>
        </p:nvSpPr>
        <p:spPr>
          <a:xfrm>
            <a:off x="4728791" y="3911946"/>
            <a:ext cx="5172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3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Первые строки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датафрейма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reviews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11EDD96-30F1-8AC8-CC76-6A0ADE28A035}"/>
              </a:ext>
            </a:extLst>
          </p:cNvPr>
          <p:cNvSpPr/>
          <p:nvPr/>
        </p:nvSpPr>
        <p:spPr>
          <a:xfrm>
            <a:off x="4728791" y="7444992"/>
            <a:ext cx="517281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4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Информация о </a:t>
            </a:r>
            <a:r>
              <a:rPr lang="ru-RU" sz="1600" dirty="0" err="1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датафрейме</a:t>
            </a:r>
            <a:r>
              <a:rPr lang="ru-RU" sz="16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reviews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09B5F7-CB24-52C7-927B-1FAF5CF12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487" y="1902705"/>
            <a:ext cx="8817424" cy="16378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30C040-8922-E3A5-052A-1F9F18F59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0" y="4726445"/>
            <a:ext cx="4038600" cy="22669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633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52AFEF-EA44-6400-EB9B-2335908C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087" y="2449072"/>
            <a:ext cx="1840786" cy="33364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B7A4FF-5F98-B765-CBC0-678286A50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529" y="2444102"/>
            <a:ext cx="1962777" cy="3341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1C9433-9212-96DC-7142-8C2F374D5469}"/>
              </a:ext>
            </a:extLst>
          </p:cNvPr>
          <p:cNvSpPr txBox="1"/>
          <p:nvPr/>
        </p:nvSpPr>
        <p:spPr>
          <a:xfrm>
            <a:off x="2113149" y="6459821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5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Статистическое описание рейтингов ресторанов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7831586" y="6459821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6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Статистическое описание количества отзывов</a:t>
            </a:r>
          </a:p>
        </p:txBody>
      </p:sp>
    </p:spTree>
    <p:extLst>
      <p:ext uri="{BB962C8B-B14F-4D97-AF65-F5344CB8AC3E}">
        <p14:creationId xmlns:p14="http://schemas.microsoft.com/office/powerpoint/2010/main" val="10711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C9433-9212-96DC-7142-8C2F374D5469}"/>
              </a:ext>
            </a:extLst>
          </p:cNvPr>
          <p:cNvSpPr txBox="1"/>
          <p:nvPr/>
        </p:nvSpPr>
        <p:spPr>
          <a:xfrm>
            <a:off x="2113149" y="6459821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7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Распределение оценок пользователей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7831586" y="6459821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8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Длина отзывов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F7838D-19EE-FE4F-E972-6C39FF8D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967" y="2444102"/>
            <a:ext cx="1831905" cy="33413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323728-762B-4B4A-F71B-0C88B13AB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3530" y="2444102"/>
            <a:ext cx="2007198" cy="334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2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5226599" y="6459821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9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Гистограмма распределения средних рейтингов ресторанов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1070405-FEE2-44BF-4B53-2A5B77406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95" y="2200275"/>
            <a:ext cx="543941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56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4962232" y="6457197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10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Boxplot 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распределения количества отзывов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C1EDB1-FFF1-27F6-CD18-200F7A530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232" y="2161654"/>
            <a:ext cx="4705935" cy="39062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5059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5065380" y="6392009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11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Столбчатая диаграмма распределения оценок отзывов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6A6D421-346F-4979-DE88-1D066FD30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232" y="2509454"/>
            <a:ext cx="4952959" cy="3210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6914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5065380" y="6355308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11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Топ категорий ресторанов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5FA65C-AB2B-7D73-CC7B-0B92CC055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399" y="2553986"/>
            <a:ext cx="6089169" cy="31216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23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5065380" y="6355308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12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Точечная диаграмма географического распределения ресторанов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DECAE6-B96D-E69C-3A88-7236AAA9C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106" y="2158963"/>
            <a:ext cx="3802187" cy="39116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3672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92040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 данных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909FE-8C05-A976-3E5C-1E3727FB6F6C}"/>
              </a:ext>
            </a:extLst>
          </p:cNvPr>
          <p:cNvSpPr txBox="1"/>
          <p:nvPr/>
        </p:nvSpPr>
        <p:spPr>
          <a:xfrm>
            <a:off x="5065380" y="7217066"/>
            <a:ext cx="4746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13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Корреляционная матрица признаков ресторанов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FCA4F6C-8953-9398-04E5-F6D1F9E34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739" y="1597631"/>
            <a:ext cx="5552921" cy="5034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42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текст, снимок экрана, диаграмма, дизайн">
            <a:extLst>
              <a:ext uri="{FF2B5EF4-FFF2-40B4-BE49-F238E27FC236}">
                <a16:creationId xmlns:a16="http://schemas.microsoft.com/office/drawing/2014/main" id="{3E323B7E-B461-F7DF-E446-C7E4CC859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425" y="1688057"/>
            <a:ext cx="5546422" cy="26917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Рисунки 14-16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5" name="Рисунок 14" descr="Изображение выглядит как снимок экрана, диаграмма, текс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28580AA-105B-0D16-8C69-45271FA35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188" y="1688057"/>
            <a:ext cx="7484615" cy="2691714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карта, снимок экрана, текс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DE26CF-AA28-A60D-8734-A1B0B1424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571" y="4565109"/>
            <a:ext cx="9715258" cy="263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97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17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Рисунок 2" descr="Изображение выглядит как снимок экрана, текст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DCCF7E-1B23-EF3D-5001-117D76A8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127" y="1583467"/>
            <a:ext cx="9374146" cy="506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5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18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56BEB62-B6A2-C6FC-24B8-0A7320060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625" y="1482496"/>
            <a:ext cx="9429647" cy="526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93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19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Рисунок 8" descr="Изображение выглядит как снимок экрана, текст, линия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A6DE817-7A3D-2DF0-2F4E-4340A2295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66" y="1437901"/>
            <a:ext cx="10517068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81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20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7" name="Рисунок 6" descr="Изображение выглядит как текст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68B709-F689-4A33-557B-1427AEF62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24" y="1414085"/>
            <a:ext cx="10764752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12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FE798B17-44EE-75BE-525C-8175C8188EED}"/>
              </a:ext>
            </a:extLst>
          </p:cNvPr>
          <p:cNvSpPr/>
          <p:nvPr/>
        </p:nvSpPr>
        <p:spPr>
          <a:xfrm>
            <a:off x="1193425" y="427759"/>
            <a:ext cx="27724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</a:t>
            </a: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 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8C9C77-6001-4524-FED0-C5CE17D4077F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6AE2A-8998-1106-869E-E21744FE5A0D}"/>
              </a:ext>
            </a:extLst>
          </p:cNvPr>
          <p:cNvSpPr txBox="1"/>
          <p:nvPr/>
        </p:nvSpPr>
        <p:spPr>
          <a:xfrm>
            <a:off x="5301464" y="7385927"/>
            <a:ext cx="4746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Рисунок 20 </a:t>
            </a:r>
            <a:r>
              <a:rPr lang="ru-RU" sz="160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—</a:t>
            </a:r>
            <a:r>
              <a:rPr lang="ru-RU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</a:t>
            </a:r>
            <a:endParaRPr lang="ru-RU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DDB853F-9697-C6AC-6640-73C70AD6D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429" y="1704638"/>
            <a:ext cx="10507541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14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4270" y="373856"/>
            <a:ext cx="7258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Выводы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4725"/>
            <a:ext cx="37823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Предварительный анализ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80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Позволил выявить ключевые характеристики датасета: Это обеспечило качественную подготовку данных для дальнейшего анализа.</a:t>
            </a:r>
            <a:endParaRPr lang="en-US"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307431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564725"/>
            <a:ext cx="30094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Кластеризация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7282" y="3055144"/>
            <a:ext cx="593871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Позволила выделить группы ресторанов.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Silhouette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Score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показал хорошую сегментацию, что подтверждает корректность выбранного количества кластеров.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990862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248156"/>
            <a:ext cx="37109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Регрессия рейтингов</a:t>
            </a:r>
            <a:endParaRPr lang="en-US" sz="2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2524" y="5738573"/>
            <a:ext cx="5801916" cy="122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Регрессия показала слабое качество (R² ≈ 0.028). Добавление признаков категорий значительно улучшило модель (R² возрастает). Это подтверждает, что категория — важный предиктор рейтинга.</a:t>
            </a:r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1" y="5248156"/>
            <a:ext cx="3883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b="1" dirty="0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Интерактивность </a:t>
            </a:r>
            <a:r>
              <a:rPr lang="ru-RU" sz="2200" b="1" dirty="0" err="1">
                <a:solidFill>
                  <a:srgbClr val="E5E0D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дашборда</a:t>
            </a:r>
            <a:endParaRPr lang="en-US" sz="2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77282" y="573857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Позволяет пользователю динамически фильтровать данные, исследовать распределения и визуализировать результаты анализа</a:t>
            </a: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CDCA5D-5390-2F91-D64C-7E066F91C7A1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500881-15CF-4BE5-0439-A83DE807E73B}"/>
              </a:ext>
            </a:extLst>
          </p:cNvPr>
          <p:cNvSpPr/>
          <p:nvPr/>
        </p:nvSpPr>
        <p:spPr>
          <a:xfrm>
            <a:off x="824270" y="373856"/>
            <a:ext cx="7258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Inter Bold" pitchFamily="34" charset="-120"/>
              </a:rPr>
              <a:t>Рекомендации</a:t>
            </a:r>
            <a:endParaRPr lang="en-US" sz="445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985DF-9FA2-0730-3F4A-09B7D74FB141}"/>
              </a:ext>
            </a:extLst>
          </p:cNvPr>
          <p:cNvSpPr txBox="1"/>
          <p:nvPr/>
        </p:nvSpPr>
        <p:spPr>
          <a:xfrm>
            <a:off x="824269" y="1705510"/>
            <a:ext cx="10056063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Для более точного предсказания рейтингов ресторанов можно рассмотреть расширение набора признаков, например, с использованием текстовой информации из отзывов (NLP-анализ) и анализа дисперсии оценок.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Продолжить работу с кластеризацией, применяя более сложные алгоритмы, такие как DBSCAN или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Gaussian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Mixture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для выявления скрытых закономерностей.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Использовать интерактивность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дашборда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включая опцию добавления признаков категорий в регрессию, для анализа влияния различных факторов (количество отзывов, тип заведения) на бизнес-показатели ресторана.</a:t>
            </a:r>
          </a:p>
          <a:p>
            <a:pPr>
              <a:lnSpc>
                <a:spcPct val="150000"/>
              </a:lnSpc>
            </a:pPr>
            <a:endParaRPr lang="ru-RU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Для презентации и принятия решений использовать KPI и визуализации, созданные в </a:t>
            </a:r>
            <a:r>
              <a:rPr lang="ru-RU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дашборде</a:t>
            </a:r>
            <a:r>
              <a:rPr lang="ru-RU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что позволяет оценивать рестораны в разрезе географии, категорий, количества отзывов и среднего рейтинга.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EA587D-8727-0254-7C26-D94200706976}"/>
              </a:ext>
            </a:extLst>
          </p:cNvPr>
          <p:cNvSpPr/>
          <p:nvPr/>
        </p:nvSpPr>
        <p:spPr>
          <a:xfrm>
            <a:off x="12791326" y="7736439"/>
            <a:ext cx="1758220" cy="410967"/>
          </a:xfrm>
          <a:prstGeom prst="rect">
            <a:avLst/>
          </a:prstGeom>
          <a:solidFill>
            <a:srgbClr val="272525"/>
          </a:solidFill>
          <a:ln>
            <a:solidFill>
              <a:srgbClr val="2725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6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577</Words>
  <Application>Microsoft Office PowerPoint</Application>
  <PresentationFormat>Произвольный</PresentationFormat>
  <Paragraphs>94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4" baseType="lpstr"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H1t Classique</cp:lastModifiedBy>
  <cp:revision>48</cp:revision>
  <dcterms:created xsi:type="dcterms:W3CDTF">2026-01-11T21:13:06Z</dcterms:created>
  <dcterms:modified xsi:type="dcterms:W3CDTF">2026-01-12T00:21:29Z</dcterms:modified>
</cp:coreProperties>
</file>